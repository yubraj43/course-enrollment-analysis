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1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203200" y="0"/>
            <a:ext cx="3778250" cy="6858001"/>
            <a:chOff x="203200" y="0"/>
            <a:chExt cx="3778250" cy="6858001"/>
          </a:xfrm>
        </p:grpSpPr>
        <p:sp>
          <p:nvSpPr>
            <p:cNvPr id="14" name="Freeform 6"/>
            <p:cNvSpPr/>
            <p:nvPr/>
          </p:nvSpPr>
          <p:spPr bwMode="auto">
            <a:xfrm>
              <a:off x="641350" y="0"/>
              <a:ext cx="1365250" cy="3971925"/>
            </a:xfrm>
            <a:custGeom>
              <a:avLst/>
              <a:gdLst/>
              <a:ahLst/>
              <a:cxnLst/>
              <a:rect l="0" t="0" r="r" b="b"/>
              <a:pathLst>
                <a:path w="860" h="2502">
                  <a:moveTo>
                    <a:pt x="0" y="2445"/>
                  </a:moveTo>
                  <a:lnTo>
                    <a:pt x="228" y="2502"/>
                  </a:lnTo>
                  <a:lnTo>
                    <a:pt x="860" y="0"/>
                  </a:lnTo>
                  <a:lnTo>
                    <a:pt x="620" y="0"/>
                  </a:lnTo>
                  <a:lnTo>
                    <a:pt x="0" y="244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/>
            <p:cNvSpPr/>
            <p:nvPr/>
          </p:nvSpPr>
          <p:spPr bwMode="auto">
            <a:xfrm>
              <a:off x="203200" y="0"/>
              <a:ext cx="1336675" cy="3862388"/>
            </a:xfrm>
            <a:custGeom>
              <a:avLst/>
              <a:gdLst/>
              <a:ahLst/>
              <a:cxnLst/>
              <a:rect l="0" t="0" r="r" b="b"/>
              <a:pathLst>
                <a:path w="842" h="2433">
                  <a:moveTo>
                    <a:pt x="842" y="0"/>
                  </a:moveTo>
                  <a:lnTo>
                    <a:pt x="602" y="0"/>
                  </a:lnTo>
                  <a:lnTo>
                    <a:pt x="0" y="2376"/>
                  </a:lnTo>
                  <a:lnTo>
                    <a:pt x="228" y="2433"/>
                  </a:lnTo>
                  <a:lnTo>
                    <a:pt x="842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/>
            <p:cNvSpPr/>
            <p:nvPr/>
          </p:nvSpPr>
          <p:spPr bwMode="auto">
            <a:xfrm>
              <a:off x="207963" y="3776663"/>
              <a:ext cx="1936750" cy="3081338"/>
            </a:xfrm>
            <a:custGeom>
              <a:avLst/>
              <a:gdLst/>
              <a:ahLst/>
              <a:cxnLst/>
              <a:rect l="0" t="0" r="r" b="b"/>
              <a:pathLst>
                <a:path w="1220" h="1941">
                  <a:moveTo>
                    <a:pt x="0" y="0"/>
                  </a:moveTo>
                  <a:lnTo>
                    <a:pt x="1166" y="1941"/>
                  </a:lnTo>
                  <a:lnTo>
                    <a:pt x="1220" y="19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0" name="Freeform 9"/>
            <p:cNvSpPr/>
            <p:nvPr/>
          </p:nvSpPr>
          <p:spPr bwMode="auto">
            <a:xfrm>
              <a:off x="646113" y="3886200"/>
              <a:ext cx="2373313" cy="2971800"/>
            </a:xfrm>
            <a:custGeom>
              <a:avLst/>
              <a:gdLst/>
              <a:ahLst/>
              <a:cxnLst/>
              <a:rect l="0" t="0" r="r" b="b"/>
              <a:pathLst>
                <a:path w="1495" h="1872">
                  <a:moveTo>
                    <a:pt x="1495" y="1872"/>
                  </a:moveTo>
                  <a:lnTo>
                    <a:pt x="0" y="0"/>
                  </a:lnTo>
                  <a:lnTo>
                    <a:pt x="1442" y="1872"/>
                  </a:lnTo>
                  <a:lnTo>
                    <a:pt x="1495" y="1872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1" name="Freeform 10"/>
            <p:cNvSpPr/>
            <p:nvPr/>
          </p:nvSpPr>
          <p:spPr bwMode="auto">
            <a:xfrm>
              <a:off x="641350" y="3881438"/>
              <a:ext cx="3340100" cy="2976563"/>
            </a:xfrm>
            <a:custGeom>
              <a:avLst/>
              <a:gdLst/>
              <a:ahLst/>
              <a:cxnLst/>
              <a:rect l="0" t="0" r="r" b="b"/>
              <a:pathLst>
                <a:path w="2104" h="1875">
                  <a:moveTo>
                    <a:pt x="0" y="0"/>
                  </a:moveTo>
                  <a:lnTo>
                    <a:pt x="3" y="3"/>
                  </a:lnTo>
                  <a:lnTo>
                    <a:pt x="1498" y="1875"/>
                  </a:lnTo>
                  <a:lnTo>
                    <a:pt x="2104" y="1875"/>
                  </a:lnTo>
                  <a:lnTo>
                    <a:pt x="228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2" name="Freeform 11"/>
            <p:cNvSpPr/>
            <p:nvPr/>
          </p:nvSpPr>
          <p:spPr bwMode="auto">
            <a:xfrm>
              <a:off x="203200" y="3771900"/>
              <a:ext cx="2660650" cy="3086100"/>
            </a:xfrm>
            <a:custGeom>
              <a:avLst/>
              <a:gdLst/>
              <a:ahLst/>
              <a:cxnLst/>
              <a:rect l="0" t="0" r="r" b="b"/>
              <a:pathLst>
                <a:path w="1676" h="1944">
                  <a:moveTo>
                    <a:pt x="1676" y="1944"/>
                  </a:moveTo>
                  <a:lnTo>
                    <a:pt x="264" y="111"/>
                  </a:lnTo>
                  <a:lnTo>
                    <a:pt x="225" y="60"/>
                  </a:lnTo>
                  <a:lnTo>
                    <a:pt x="228" y="60"/>
                  </a:lnTo>
                  <a:lnTo>
                    <a:pt x="264" y="111"/>
                  </a:lnTo>
                  <a:lnTo>
                    <a:pt x="234" y="69"/>
                  </a:lnTo>
                  <a:lnTo>
                    <a:pt x="228" y="57"/>
                  </a:lnTo>
                  <a:lnTo>
                    <a:pt x="222" y="54"/>
                  </a:lnTo>
                  <a:lnTo>
                    <a:pt x="0" y="0"/>
                  </a:lnTo>
                  <a:lnTo>
                    <a:pt x="3" y="3"/>
                  </a:lnTo>
                  <a:lnTo>
                    <a:pt x="1223" y="1944"/>
                  </a:lnTo>
                  <a:lnTo>
                    <a:pt x="1676" y="1944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39673" y="914401"/>
            <a:ext cx="6947127" cy="3488266"/>
          </a:xfrm>
        </p:spPr>
        <p:txBody>
          <a:bodyPr anchor="b">
            <a:normAutofit/>
          </a:bodyPr>
          <a:lstStyle>
            <a:lvl1pPr algn="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24238" y="4402666"/>
            <a:ext cx="5762563" cy="1364531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25773" y="6117336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23733" y="6117336"/>
            <a:ext cx="360943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5320" y="6117336"/>
            <a:ext cx="41148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" name="Freeform 12"/>
          <p:cNvSpPr/>
          <p:nvPr/>
        </p:nvSpPr>
        <p:spPr bwMode="auto">
          <a:xfrm>
            <a:off x="203200" y="3771900"/>
            <a:ext cx="361950" cy="90488"/>
          </a:xfrm>
          <a:custGeom>
            <a:avLst/>
            <a:gdLst/>
            <a:ahLst/>
            <a:cxnLst/>
            <a:rect l="0" t="0" r="r" b="b"/>
            <a:pathLst>
              <a:path w="228" h="57">
                <a:moveTo>
                  <a:pt x="228" y="57"/>
                </a:moveTo>
                <a:lnTo>
                  <a:pt x="0" y="0"/>
                </a:lnTo>
                <a:lnTo>
                  <a:pt x="222" y="54"/>
                </a:lnTo>
                <a:lnTo>
                  <a:pt x="228" y="57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4" name="Freeform 13"/>
          <p:cNvSpPr/>
          <p:nvPr/>
        </p:nvSpPr>
        <p:spPr bwMode="auto">
          <a:xfrm>
            <a:off x="560388" y="3867150"/>
            <a:ext cx="61913" cy="80963"/>
          </a:xfrm>
          <a:custGeom>
            <a:avLst/>
            <a:gdLst/>
            <a:ahLst/>
            <a:cxnLst/>
            <a:rect l="0" t="0" r="r" b="b"/>
            <a:pathLst>
              <a:path w="39" h="51">
                <a:moveTo>
                  <a:pt x="0" y="0"/>
                </a:moveTo>
                <a:lnTo>
                  <a:pt x="39" y="51"/>
                </a:lnTo>
                <a:lnTo>
                  <a:pt x="3" y="0"/>
                </a:lnTo>
                <a:lnTo>
                  <a:pt x="0" y="0"/>
                </a:lnTo>
                <a:close/>
              </a:path>
            </a:pathLst>
          </a:custGeom>
          <a:solidFill>
            <a:srgbClr val="29ABE2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</p:spTree>
    <p:extLst>
      <p:ext uri="{BB962C8B-B14F-4D97-AF65-F5344CB8AC3E}">
        <p14:creationId xmlns:p14="http://schemas.microsoft.com/office/powerpoint/2010/main" val="34957043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133" y="2667000"/>
            <a:ext cx="7704667" cy="333281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44329" y="6108173"/>
            <a:ext cx="857473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72647" y="6108173"/>
            <a:ext cx="5314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58967" y="6108173"/>
            <a:ext cx="42783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2659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6995" y="2666998"/>
            <a:ext cx="6699805" cy="2360071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86998" y="5027070"/>
            <a:ext cx="6699802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273317" y="6116070"/>
            <a:ext cx="413483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163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133" y="685801"/>
            <a:ext cx="7704667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82133" y="2667000"/>
            <a:ext cx="3739896" cy="336867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46904" y="2667000"/>
            <a:ext cx="3739896" cy="3346824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517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9481" y="2658533"/>
            <a:ext cx="345629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13523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1710" y="2667000"/>
            <a:ext cx="3467806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957266" y="3335336"/>
            <a:ext cx="3672248" cy="2665259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2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2374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967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1600200"/>
            <a:ext cx="2662534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7553" y="685800"/>
            <a:ext cx="4681962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4" y="2971800"/>
            <a:ext cx="2662534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7140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2332" y="1752599"/>
            <a:ext cx="4070679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97495" y="914400"/>
            <a:ext cx="2461371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2332" y="3124199"/>
            <a:ext cx="4070679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22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3" y="4732865"/>
            <a:ext cx="751599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89975" y="932112"/>
            <a:ext cx="6171065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3523" y="5299603"/>
            <a:ext cx="751599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02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4" y="685800"/>
            <a:ext cx="751599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5023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598235" y="3428999"/>
            <a:ext cx="6631128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3" y="4343400"/>
            <a:ext cx="751599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0910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3308581"/>
            <a:ext cx="751598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7381"/>
            <a:ext cx="751599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9387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969421" y="863023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2197" y="2819399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26741" y="685801"/>
            <a:ext cx="6974115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5" y="3886200"/>
            <a:ext cx="751599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775200"/>
            <a:ext cx="751599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0015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525" y="685801"/>
            <a:ext cx="7515991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13524" y="3505200"/>
            <a:ext cx="7515992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13524" y="4343400"/>
            <a:ext cx="7515992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5580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436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01393" y="685800"/>
            <a:ext cx="1328123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13524" y="685800"/>
            <a:ext cx="6016373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039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0"/>
            <a:ext cx="2132013" cy="6858001"/>
            <a:chOff x="0" y="0"/>
            <a:chExt cx="2132013" cy="6858001"/>
          </a:xfrm>
        </p:grpSpPr>
        <p:sp>
          <p:nvSpPr>
            <p:cNvPr id="15" name="Freeform 6"/>
            <p:cNvSpPr/>
            <p:nvPr/>
          </p:nvSpPr>
          <p:spPr bwMode="auto">
            <a:xfrm>
              <a:off x="0" y="0"/>
              <a:ext cx="1073150" cy="5291138"/>
            </a:xfrm>
            <a:custGeom>
              <a:avLst/>
              <a:gdLst/>
              <a:ahLst/>
              <a:cxnLst/>
              <a:rect l="0" t="0" r="r" b="b"/>
              <a:pathLst>
                <a:path w="676" h="3333">
                  <a:moveTo>
                    <a:pt x="0" y="3132"/>
                  </a:moveTo>
                  <a:lnTo>
                    <a:pt x="0" y="3312"/>
                  </a:lnTo>
                  <a:lnTo>
                    <a:pt x="126" y="3333"/>
                  </a:lnTo>
                  <a:lnTo>
                    <a:pt x="676" y="0"/>
                  </a:lnTo>
                  <a:lnTo>
                    <a:pt x="514" y="0"/>
                  </a:lnTo>
                  <a:lnTo>
                    <a:pt x="0" y="313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6" name="Freeform 7"/>
            <p:cNvSpPr/>
            <p:nvPr/>
          </p:nvSpPr>
          <p:spPr bwMode="auto">
            <a:xfrm>
              <a:off x="0" y="0"/>
              <a:ext cx="758825" cy="4624388"/>
            </a:xfrm>
            <a:custGeom>
              <a:avLst/>
              <a:gdLst/>
              <a:ahLst/>
              <a:cxnLst/>
              <a:rect l="0" t="0" r="r" b="b"/>
              <a:pathLst>
                <a:path w="478" h="2913">
                  <a:moveTo>
                    <a:pt x="478" y="0"/>
                  </a:moveTo>
                  <a:lnTo>
                    <a:pt x="318" y="0"/>
                  </a:lnTo>
                  <a:lnTo>
                    <a:pt x="0" y="1938"/>
                  </a:lnTo>
                  <a:lnTo>
                    <a:pt x="0" y="2913"/>
                  </a:lnTo>
                  <a:lnTo>
                    <a:pt x="478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7" name="Freeform 8"/>
            <p:cNvSpPr/>
            <p:nvPr/>
          </p:nvSpPr>
          <p:spPr bwMode="auto">
            <a:xfrm>
              <a:off x="0" y="5662613"/>
              <a:ext cx="906463" cy="1195388"/>
            </a:xfrm>
            <a:custGeom>
              <a:avLst/>
              <a:gdLst/>
              <a:ahLst/>
              <a:cxnLst/>
              <a:rect l="0" t="0" r="r" b="b"/>
              <a:pathLst>
                <a:path w="571" h="753">
                  <a:moveTo>
                    <a:pt x="0" y="0"/>
                  </a:moveTo>
                  <a:lnTo>
                    <a:pt x="0" y="12"/>
                  </a:lnTo>
                  <a:lnTo>
                    <a:pt x="538" y="753"/>
                  </a:lnTo>
                  <a:lnTo>
                    <a:pt x="571" y="75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8" name="Freeform 9"/>
            <p:cNvSpPr/>
            <p:nvPr/>
          </p:nvSpPr>
          <p:spPr bwMode="auto">
            <a:xfrm>
              <a:off x="0" y="5295900"/>
              <a:ext cx="1487488" cy="1562100"/>
            </a:xfrm>
            <a:custGeom>
              <a:avLst/>
              <a:gdLst/>
              <a:ahLst/>
              <a:cxnLst/>
              <a:rect l="0" t="0" r="r" b="b"/>
              <a:pathLst>
                <a:path w="937" h="984">
                  <a:moveTo>
                    <a:pt x="0" y="0"/>
                  </a:moveTo>
                  <a:lnTo>
                    <a:pt x="0" y="3"/>
                  </a:lnTo>
                  <a:lnTo>
                    <a:pt x="901" y="984"/>
                  </a:lnTo>
                  <a:lnTo>
                    <a:pt x="937" y="98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9" name="Freeform 10"/>
            <p:cNvSpPr/>
            <p:nvPr/>
          </p:nvSpPr>
          <p:spPr bwMode="auto">
            <a:xfrm>
              <a:off x="0" y="5257800"/>
              <a:ext cx="2132013" cy="1600200"/>
            </a:xfrm>
            <a:custGeom>
              <a:avLst/>
              <a:gdLst/>
              <a:ahLst/>
              <a:cxnLst/>
              <a:rect l="0" t="0" r="r" b="b"/>
              <a:pathLst>
                <a:path w="1343" h="1008">
                  <a:moveTo>
                    <a:pt x="0" y="24"/>
                  </a:moveTo>
                  <a:lnTo>
                    <a:pt x="937" y="1008"/>
                  </a:lnTo>
                  <a:lnTo>
                    <a:pt x="1343" y="1008"/>
                  </a:lnTo>
                  <a:lnTo>
                    <a:pt x="126" y="21"/>
                  </a:lnTo>
                  <a:lnTo>
                    <a:pt x="0" y="0"/>
                  </a:lnTo>
                  <a:lnTo>
                    <a:pt x="0" y="24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0" name="Freeform 11"/>
            <p:cNvSpPr/>
            <p:nvPr/>
          </p:nvSpPr>
          <p:spPr bwMode="auto">
            <a:xfrm>
              <a:off x="0" y="5357813"/>
              <a:ext cx="1377950" cy="1500188"/>
            </a:xfrm>
            <a:custGeom>
              <a:avLst/>
              <a:gdLst/>
              <a:ahLst/>
              <a:cxnLst/>
              <a:rect l="0" t="0" r="r" b="b"/>
              <a:pathLst>
                <a:path w="868" h="945">
                  <a:moveTo>
                    <a:pt x="0" y="192"/>
                  </a:moveTo>
                  <a:lnTo>
                    <a:pt x="571" y="945"/>
                  </a:lnTo>
                  <a:lnTo>
                    <a:pt x="868" y="945"/>
                  </a:lnTo>
                  <a:lnTo>
                    <a:pt x="0" y="0"/>
                  </a:lnTo>
                  <a:lnTo>
                    <a:pt x="0" y="192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82133" y="457201"/>
            <a:ext cx="7704667" cy="19812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134" y="2667000"/>
            <a:ext cx="7704666" cy="335699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8679" y="6116070"/>
            <a:ext cx="8574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86997" y="6116070"/>
            <a:ext cx="5314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73317" y="6116070"/>
            <a:ext cx="4134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545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  <p:sldLayoutId id="2147483743" r:id="rId12"/>
    <p:sldLayoutId id="2147483744" r:id="rId13"/>
    <p:sldLayoutId id="2147483745" r:id="rId14"/>
    <p:sldLayoutId id="2147483746" r:id="rId15"/>
    <p:sldLayoutId id="2147483747" r:id="rId16"/>
    <p:sldLayoutId id="2147483748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dirty="0"/>
              <a:t>Learner Demographics and Course Enrollment Behavior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EduPro</a:t>
            </a:r>
            <a:r>
              <a:rPr dirty="0"/>
              <a:t> Online Learning Platform</a:t>
            </a:r>
            <a:endParaRPr lang="en-US" dirty="0"/>
          </a:p>
          <a:p>
            <a:pPr algn="ctr"/>
            <a:r>
              <a:rPr lang="en-US" dirty="0"/>
              <a:t>                       Yubaraj Mahato</a:t>
            </a:r>
          </a:p>
          <a:p>
            <a:endParaRPr dirty="0"/>
          </a:p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Online learning platforms serve diverse learners.</a:t>
            </a:r>
          </a:p>
          <a:p>
            <a:r>
              <a:t>Understanding learner demographics and enrollment behavior is critical for data-driven decisions.</a:t>
            </a:r>
          </a:p>
          <a:p>
            <a:r>
              <a:t>This project focuses on descriptive analytics, not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EduPro</a:t>
            </a:r>
            <a:r>
              <a:rPr dirty="0"/>
              <a:t> lacks clear insights into:</a:t>
            </a:r>
          </a:p>
          <a:p>
            <a:r>
              <a:rPr dirty="0"/>
              <a:t> Active age groups</a:t>
            </a:r>
          </a:p>
          <a:p>
            <a:r>
              <a:rPr dirty="0"/>
              <a:t> Gender-based enrollment patterns</a:t>
            </a:r>
          </a:p>
          <a:p>
            <a:r>
              <a:rPr dirty="0"/>
              <a:t> Course category and level preferences</a:t>
            </a:r>
          </a:p>
          <a:p>
            <a:r>
              <a:rPr dirty="0"/>
              <a:t>Decisions were largely intuition-driven.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Users: Age, Gender, Demographics</a:t>
            </a:r>
          </a:p>
          <a:p>
            <a:r>
              <a:t>Courses: Category, Type, Level</a:t>
            </a:r>
          </a:p>
          <a:p>
            <a:r>
              <a:t>Transactions: Enrollment records</a:t>
            </a:r>
          </a:p>
          <a:p>
            <a:r>
              <a:t>Data integrated using UserID and CourseID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Analytical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Data cleaning and validation</a:t>
            </a:r>
          </a:p>
          <a:p>
            <a:pPr marL="0" indent="0">
              <a:buNone/>
            </a:pPr>
            <a:r>
              <a:rPr dirty="0"/>
              <a:t>• Age group segmentation</a:t>
            </a:r>
          </a:p>
          <a:p>
            <a:pPr marL="0" indent="0">
              <a:buNone/>
            </a:pPr>
            <a:r>
              <a:rPr dirty="0"/>
              <a:t>• Dataset merging</a:t>
            </a:r>
          </a:p>
          <a:p>
            <a:pPr marL="0" indent="0">
              <a:buNone/>
            </a:pPr>
            <a:r>
              <a:rPr dirty="0"/>
              <a:t>• Exploratory Data Analysis (EDA)</a:t>
            </a:r>
          </a:p>
          <a:p>
            <a:pPr marL="0" indent="0">
              <a:buNone/>
            </a:pPr>
            <a:r>
              <a:rPr dirty="0"/>
              <a:t>• Visualization of trends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Analysis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Age distribution of learners</a:t>
            </a:r>
          </a:p>
          <a:p>
            <a:r>
              <a:rPr dirty="0"/>
              <a:t> Gender participation analysis</a:t>
            </a:r>
          </a:p>
          <a:p>
            <a:r>
              <a:rPr dirty="0"/>
              <a:t> Course category popularity</a:t>
            </a:r>
          </a:p>
          <a:p>
            <a:r>
              <a:rPr dirty="0"/>
              <a:t> Course level preferences</a:t>
            </a:r>
          </a:p>
          <a:p>
            <a:r>
              <a:rPr dirty="0"/>
              <a:t> Age vs course category heatmap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Majority learners belong to 18–35 age group</a:t>
            </a:r>
          </a:p>
          <a:p>
            <a:pPr marL="0" indent="0">
              <a:buNone/>
            </a:pPr>
            <a:r>
              <a:rPr dirty="0"/>
              <a:t>• Beginner courses have highest enrollments</a:t>
            </a:r>
          </a:p>
          <a:p>
            <a:pPr marL="0" indent="0">
              <a:buNone/>
            </a:pPr>
            <a:r>
              <a:rPr dirty="0"/>
              <a:t>• Certain categories dominate younger learners</a:t>
            </a:r>
          </a:p>
          <a:p>
            <a:pPr marL="0" indent="0">
              <a:buNone/>
            </a:pPr>
            <a:r>
              <a:rPr dirty="0"/>
              <a:t>• Advanced courses preferred by older age groups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Total Enrollments</a:t>
            </a:r>
          </a:p>
          <a:p>
            <a:pPr marL="0" indent="0">
              <a:buNone/>
            </a:pPr>
            <a:r>
              <a:rPr dirty="0"/>
              <a:t>• Enrollments by Age Group</a:t>
            </a:r>
          </a:p>
          <a:p>
            <a:pPr marL="0" indent="0">
              <a:buNone/>
            </a:pPr>
            <a:r>
              <a:rPr dirty="0"/>
              <a:t>• Gender Participation Ratio</a:t>
            </a:r>
          </a:p>
          <a:p>
            <a:pPr marL="0" indent="0">
              <a:buNone/>
            </a:pPr>
            <a:r>
              <a:rPr dirty="0"/>
              <a:t>• Course Category Popularity</a:t>
            </a:r>
          </a:p>
          <a:p>
            <a:pPr marL="0" indent="0">
              <a:buNone/>
            </a:pPr>
            <a:r>
              <a:rPr dirty="0"/>
              <a:t>• Level Preference Distribution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Python</a:t>
            </a:r>
          </a:p>
          <a:p>
            <a:r>
              <a:rPr dirty="0"/>
              <a:t> Pandas &amp; NumPy</a:t>
            </a:r>
          </a:p>
          <a:p>
            <a:r>
              <a:rPr dirty="0"/>
              <a:t> Matplotlib &amp; Seaborn</a:t>
            </a:r>
          </a:p>
          <a:p>
            <a:r>
              <a:rPr dirty="0"/>
              <a:t> </a:t>
            </a:r>
            <a:r>
              <a:rPr dirty="0" err="1"/>
              <a:t>Jupyter</a:t>
            </a:r>
            <a:r>
              <a:rPr dirty="0"/>
              <a:t> Notebook</a:t>
            </a:r>
          </a:p>
          <a:p>
            <a:r>
              <a:rPr dirty="0"/>
              <a:t> </a:t>
            </a:r>
            <a:r>
              <a:rPr dirty="0" err="1"/>
              <a:t>Streamlit</a:t>
            </a:r>
            <a:r>
              <a:rPr dirty="0"/>
              <a:t> Dashboard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provides foundational learner intelligence for EduPro.</a:t>
            </a:r>
          </a:p>
          <a:p>
            <a:r>
              <a:t>Insights help improve course design, engagement, and inclusivity.</a:t>
            </a:r>
          </a:p>
          <a:p>
            <a:r>
              <a:t>Supports data-driven education planning.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EBEBEB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4</TotalTime>
  <Words>246</Words>
  <Application>Microsoft Office PowerPoint</Application>
  <PresentationFormat>On-screen Show (4:3)</PresentationFormat>
  <Paragraphs>51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Corbel</vt:lpstr>
      <vt:lpstr>Parallax</vt:lpstr>
      <vt:lpstr>Learner Demographics and Course Enrollment Behavior Analysis</vt:lpstr>
      <vt:lpstr>Introduction</vt:lpstr>
      <vt:lpstr>Problem Statement</vt:lpstr>
      <vt:lpstr>Dataset Overview</vt:lpstr>
      <vt:lpstr>Analytical Methodology</vt:lpstr>
      <vt:lpstr>Key Analysis Performed</vt:lpstr>
      <vt:lpstr>Key Insights</vt:lpstr>
      <vt:lpstr>Key Performance Indicators</vt:lpstr>
      <vt:lpstr>Tools &amp; Technologies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Yubaraj Mahato</dc:creator>
  <cp:keywords/>
  <dc:description>generated using python-pptx</dc:description>
  <cp:lastModifiedBy>yubaraj mahato</cp:lastModifiedBy>
  <cp:revision>2</cp:revision>
  <dcterms:created xsi:type="dcterms:W3CDTF">2013-01-27T09:14:16Z</dcterms:created>
  <dcterms:modified xsi:type="dcterms:W3CDTF">2026-01-29T09:46:12Z</dcterms:modified>
  <cp:category/>
</cp:coreProperties>
</file>